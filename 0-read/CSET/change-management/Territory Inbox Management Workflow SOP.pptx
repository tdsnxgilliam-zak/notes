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Territory Inbox Management SOP visual workflow based entirely on user-provided content.
[Sources]
- User-provided SOP content in this conversation.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2C91"/>
          </a:solidFill>
          <a:ln w="12700">
            <a:solidFill>
              <a:srgbClr val="5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0" y="651052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3819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 SYNNEX | Territory Operations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438912" y="2743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030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Territory Inbox Management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48056" y="658368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F6F82"/>
                </a:solidFill>
              </a:rPr>
              <a:t>One inbox. Clear ownership. Every partner receives a response.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372600" y="256032"/>
            <a:ext cx="2359152" cy="502920"/>
          </a:xfrm>
          <a:prstGeom prst="roundRect">
            <a:avLst>
              <a:gd name="adj" fmla="val 14545"/>
            </a:avLst>
          </a:prstGeom>
          <a:solidFill>
            <a:srgbClr val="EDE5F7"/>
          </a:solidFill>
          <a:ln w="12700">
            <a:solidFill>
              <a:srgbClr val="D8C7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00616" y="420624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30" dirty="0">
                <a:solidFill>
                  <a:srgbClr val="5B2C91"/>
                </a:solidFill>
              </a:rPr>
              <a:t>WORK FIFO  •  CLAIM  •  RESPOND  •  FILE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38912" y="1005840"/>
            <a:ext cx="11301984" cy="667512"/>
          </a:xfrm>
          <a:prstGeom prst="roundRect">
            <a:avLst>
              <a:gd name="adj" fmla="val 8219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524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03504" y="1170432"/>
            <a:ext cx="256032" cy="256032"/>
          </a:xfrm>
          <a:prstGeom prst="ellipse">
            <a:avLst/>
          </a:prstGeom>
          <a:solidFill>
            <a:srgbClr val="5B2C91"/>
          </a:solidFill>
          <a:ln w="12700">
            <a:solidFill>
              <a:srgbClr val="5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50976" y="1115568"/>
            <a:ext cx="2441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C91"/>
                </a:solidFill>
              </a:rPr>
              <a:t>PRIMARY POM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50976" y="131673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F82"/>
                </a:solidFill>
              </a:rPr>
              <a:t>Triage inbox • Create RC requests/actions • Reply to partners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3456432" y="1124712"/>
            <a:ext cx="1" cy="429768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47872" y="1170432"/>
            <a:ext cx="256032" cy="256032"/>
          </a:xfrm>
          <a:prstGeom prst="ellipse">
            <a:avLst/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95344" y="111556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73BE"/>
                </a:solidFill>
              </a:rPr>
              <a:t>SECONDARY POM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95344" y="1316736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F82"/>
                </a:solidFill>
              </a:rPr>
              <a:t>Work requests • Support inbox • Cover when Primary is OOO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291072" y="1124712"/>
            <a:ext cx="1" cy="429768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82512" y="1170432"/>
            <a:ext cx="256032" cy="256032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29984" y="1115568"/>
            <a:ext cx="1947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8B8D"/>
                </a:solidFill>
              </a:rPr>
              <a:t>VSS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29984" y="1316736"/>
            <a:ext cx="1947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F82"/>
                </a:solidFill>
              </a:rPr>
              <a:t>Support responses • Guide pricing questions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8741664" y="1124712"/>
            <a:ext cx="1" cy="429768"/>
          </a:xfrm>
          <a:prstGeom prst="line">
            <a:avLst/>
          </a:prstGeom>
          <a:noFill/>
          <a:ln w="12700">
            <a:solidFill>
              <a:srgbClr val="D9E1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833104" y="1170432"/>
            <a:ext cx="256032" cy="256032"/>
          </a:xfrm>
          <a:prstGeom prst="ellipse">
            <a:avLst/>
          </a:prstGeom>
          <a:solidFill>
            <a:srgbClr val="E89B24"/>
          </a:solidFill>
          <a:ln w="12700">
            <a:solidFill>
              <a:srgbClr val="E89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80576" y="1115568"/>
            <a:ext cx="2313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B24"/>
                </a:solidFill>
              </a:rPr>
              <a:t>TEAM LEAD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80576" y="1316736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5F6F82"/>
                </a:solidFill>
              </a:rPr>
              <a:t>Escalation point when territory guidance is needed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38912" y="1920240"/>
            <a:ext cx="2139696" cy="2953512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8912" y="1920240"/>
            <a:ext cx="2139696" cy="621792"/>
          </a:xfrm>
          <a:prstGeom prst="roundRect">
            <a:avLst>
              <a:gd name="adj" fmla="val 10294"/>
            </a:avLst>
          </a:prstGeom>
          <a:solidFill>
            <a:srgbClr val="5B2C91"/>
          </a:solidFill>
          <a:ln w="12700">
            <a:solidFill>
              <a:srgbClr val="5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85216" y="206654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6012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RECEIVE &amp; CLAIM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03504" y="2724912"/>
            <a:ext cx="1810512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Work oldest email first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Move VSS-account emails to the VSS folder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Categorize with owner name/color before work begins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Include the territory alias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10612" y="3200400"/>
            <a:ext cx="91440" cy="347472"/>
          </a:xfrm>
          <a:prstGeom prst="chevron">
            <a:avLst/>
          </a:prstGeom>
          <a:solidFill>
            <a:srgbClr val="AAB6C4"/>
          </a:solidFill>
          <a:ln w="12700">
            <a:solidFill>
              <a:srgbClr val="AA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24912" y="1920240"/>
            <a:ext cx="2139696" cy="2953512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24912" y="1920240"/>
            <a:ext cx="2139696" cy="621792"/>
          </a:xfrm>
          <a:prstGeom prst="roundRect">
            <a:avLst>
              <a:gd name="adj" fmla="val 10294"/>
            </a:avLst>
          </a:prstGeom>
          <a:solidFill>
            <a:srgbClr val="1E73BE"/>
          </a:solidFill>
          <a:ln w="12700">
            <a:solidFill>
              <a:srgbClr val="1E73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871216" y="206654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24612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ASSESS THE NEED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889504" y="2724912"/>
            <a:ext cx="1810512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Understand the partner request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Question → respond in Outlook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Pricing question → engage VSS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Quote / revision / order → RC review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6612" y="3200400"/>
            <a:ext cx="91440" cy="347472"/>
          </a:xfrm>
          <a:prstGeom prst="chevron">
            <a:avLst/>
          </a:prstGeom>
          <a:solidFill>
            <a:srgbClr val="AAB6C4"/>
          </a:solidFill>
          <a:ln w="12700">
            <a:solidFill>
              <a:srgbClr val="AA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010912" y="1920240"/>
            <a:ext cx="2139696" cy="2953512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010912" y="1920240"/>
            <a:ext cx="2139696" cy="621792"/>
          </a:xfrm>
          <a:prstGeom prst="roundRect">
            <a:avLst>
              <a:gd name="adj" fmla="val 10294"/>
            </a:avLst>
          </a:prstGeom>
          <a:solidFill>
            <a:srgbClr val="E89B24"/>
          </a:solidFill>
          <a:ln w="12700">
            <a:solidFill>
              <a:srgbClr val="E89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157216" y="206654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3212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VALIDATE THE DEAL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175504" y="2724912"/>
            <a:ext cx="1810512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Search Deal ID in CCW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Not approved → do not create request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Unable to view → ask partner to correct TD SYNNEX assignment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Approved → search Outlook + RC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182612" y="3200400"/>
            <a:ext cx="91440" cy="347472"/>
          </a:xfrm>
          <a:prstGeom prst="chevron">
            <a:avLst/>
          </a:prstGeom>
          <a:solidFill>
            <a:srgbClr val="AAB6C4"/>
          </a:solidFill>
          <a:ln w="12700">
            <a:solidFill>
              <a:srgbClr val="AA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296912" y="1920240"/>
            <a:ext cx="2139696" cy="2953512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96912" y="1920240"/>
            <a:ext cx="2139696" cy="621792"/>
          </a:xfrm>
          <a:prstGeom prst="roundRect">
            <a:avLst>
              <a:gd name="adj" fmla="val 10294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443216" y="206654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81812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CREATE OR UPDATE RC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7461504" y="2724912"/>
            <a:ext cx="1810512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Existing request → add action/order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No request → use Magic Button or CIS Plug In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Clean up contacts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Attach email thread + key files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468612" y="3200400"/>
            <a:ext cx="91440" cy="347472"/>
          </a:xfrm>
          <a:prstGeom prst="chevron">
            <a:avLst/>
          </a:prstGeom>
          <a:solidFill>
            <a:srgbClr val="AAB6C4"/>
          </a:solidFill>
          <a:ln w="12700">
            <a:solidFill>
              <a:srgbClr val="AAB6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582912" y="1920240"/>
            <a:ext cx="2139696" cy="2953512"/>
          </a:xfrm>
          <a:prstGeom prst="roundRect">
            <a:avLst>
              <a:gd name="adj" fmla="val 2991"/>
            </a:avLst>
          </a:prstGeom>
          <a:solidFill>
            <a:srgbClr val="FFFFFF"/>
          </a:solidFill>
          <a:ln w="12700">
            <a:solidFill>
              <a:srgbClr val="D9E1EA"/>
            </a:solidFill>
            <a:prstDash val="solid"/>
          </a:ln>
          <a:effectLst>
            <a:outerShdw blurRad="15240" dist="4445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582912" y="1920240"/>
            <a:ext cx="2139696" cy="621792"/>
          </a:xfrm>
          <a:prstGeom prst="roundRect">
            <a:avLst>
              <a:gd name="adj" fmla="val 10294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729216" y="2066544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10412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RESPOND &amp; FILE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747504" y="2724912"/>
            <a:ext cx="1810512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Send partner the RC request number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Explain any reason work cannot enter queue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Waiting on partner → keep in VSS folder</a:t>
            </a:r>
            <a:endParaRPr lang="en-US" sz="1000" dirty="0"/>
          </a:p>
          <a:p>
            <a:pPr marL="127000" indent="-127000">
              <a:buSzPct val="100000"/>
              <a:buChar char="•"/>
            </a:pPr>
            <a:r>
              <a:rPr lang="en-US" sz="1000" dirty="0">
                <a:solidFill>
                  <a:srgbClr val="203047"/>
                </a:solidFill>
              </a:rPr>
              <a:t>Complete → file in partner folder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38912" y="5102352"/>
            <a:ext cx="7635240" cy="96012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D6E0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0080" y="5285232"/>
            <a:ext cx="1572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7365D"/>
                </a:solidFill>
              </a:rPr>
              <a:t>DECISION &amp; ESCALATION RULE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377440" y="525780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03047"/>
                </a:solidFill>
              </a:rPr>
              <a:t>Unsure how to respond?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822192" y="5239512"/>
            <a:ext cx="320040" cy="292608"/>
          </a:xfrm>
          <a:prstGeom prst="chevron">
            <a:avLst/>
          </a:prstGeom>
          <a:solidFill>
            <a:srgbClr val="5B2C91"/>
          </a:solidFill>
          <a:ln w="12700">
            <a:solidFill>
              <a:srgbClr val="5B2C9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233672" y="51846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B2C91"/>
                </a:solidFill>
              </a:rPr>
              <a:t>Primary / Secondary POM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4233672" y="544068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F8B8D"/>
                </a:solidFill>
              </a:rPr>
              <a:t>VSS for pricing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925312" y="5239512"/>
            <a:ext cx="320040" cy="292608"/>
          </a:xfrm>
          <a:prstGeom prst="chevron">
            <a:avLst/>
          </a:prstGeom>
          <a:solidFill>
            <a:srgbClr val="E89B24"/>
          </a:solidFill>
          <a:ln w="12700">
            <a:solidFill>
              <a:srgbClr val="E89B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336792" y="522122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203047"/>
                </a:solidFill>
              </a:rPr>
              <a:t>Team Lead if additional guidance is needed</a:t>
            </a:r>
            <a:endParaRPr lang="en-US" sz="940" dirty="0"/>
          </a:p>
        </p:txBody>
      </p:sp>
      <p:sp>
        <p:nvSpPr>
          <p:cNvPr id="59" name="Text 57"/>
          <p:cNvSpPr/>
          <p:nvPr/>
        </p:nvSpPr>
        <p:spPr>
          <a:xfrm>
            <a:off x="2487168" y="5733288"/>
            <a:ext cx="5285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i="1" dirty="0">
                <a:solidFill>
                  <a:srgbClr val="5F6F82"/>
                </a:solidFill>
              </a:rPr>
              <a:t>Never guess. Get clarity, then respond.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8257032" y="5102352"/>
            <a:ext cx="3483864" cy="960120"/>
          </a:xfrm>
          <a:prstGeom prst="roundRect">
            <a:avLst>
              <a:gd name="adj" fmla="val 5714"/>
            </a:avLst>
          </a:prstGeom>
          <a:solidFill>
            <a:srgbClr val="EAF6EF"/>
          </a:solidFill>
          <a:ln w="12700">
            <a:solidFill>
              <a:srgbClr val="B7DD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8485632" y="5321808"/>
            <a:ext cx="411480" cy="4114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8586216" y="5376672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✓</a:t>
            </a:r>
            <a:endParaRPr lang="en-US" sz="1500" dirty="0"/>
          </a:p>
        </p:txBody>
      </p:sp>
      <p:sp>
        <p:nvSpPr>
          <p:cNvPr id="63" name="Text 61"/>
          <p:cNvSpPr/>
          <p:nvPr/>
        </p:nvSpPr>
        <p:spPr>
          <a:xfrm>
            <a:off x="9061704" y="5257800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8B57"/>
                </a:solidFill>
              </a:rPr>
              <a:t>SUCCESS STANDARD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061704" y="550468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10" b="1" dirty="0">
                <a:solidFill>
                  <a:srgbClr val="203047"/>
                </a:solidFill>
              </a:rPr>
              <a:t>Every email answered • Clean inbox • Coverage maintained</a:t>
            </a:r>
            <a:endParaRPr lang="en-US" sz="101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3819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3a23c400-78e7-4d42-982d-273adef68ef9}" enabled="1" method="Standard" siteId="{7fe14ab6-8f5d-4139-84bf-cd8aed0ee6b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292</Words>
  <Application>Microsoft Office PowerPoint</Application>
  <PresentationFormat>Widescreen</PresentationFormat>
  <Paragraphs>53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TD SYNNEX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Territory Inbox Management Workflow</dc:title>
  <dc:subject>Territory Inbox Management SOP</dc:subject>
  <dc:creator>Reina, Dana</dc:creator>
  <cp:lastModifiedBy>Reina, Dana</cp:lastModifiedBy>
  <cp:revision>2</cp:revision>
  <dcterms:created xsi:type="dcterms:W3CDTF">2026-09-17T16:49:54Z</dcterms:created>
  <dcterms:modified xsi:type="dcterms:W3CDTF">2026-09-17T17:08:58Z</dcterms:modified>
</cp:coreProperties>
</file>